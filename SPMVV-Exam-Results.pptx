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82" r:id="rId4"/>
    <p:sldId id="280" r:id="rId5"/>
    <p:sldId id="279" r:id="rId6"/>
    <p:sldId id="274" r:id="rId7"/>
    <p:sldId id="284" r:id="rId8"/>
    <p:sldId id="288" r:id="rId9"/>
    <p:sldId id="285" r:id="rId10"/>
    <p:sldId id="286" r:id="rId11"/>
    <p:sldId id="283" r:id="rId12"/>
    <p:sldId id="275" r:id="rId13"/>
    <p:sldId id="272" r:id="rId14"/>
    <p:sldId id="276" r:id="rId15"/>
    <p:sldId id="277" r:id="rId16"/>
    <p:sldId id="278" r:id="rId17"/>
    <p:sldId id="267" r:id="rId18"/>
    <p:sldId id="268" r:id="rId19"/>
    <p:sldId id="281" r:id="rId2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599" autoAdjust="0"/>
  </p:normalViewPr>
  <p:slideViewPr>
    <p:cSldViewPr>
      <p:cViewPr varScale="1">
        <p:scale>
          <a:sx n="64" d="100"/>
          <a:sy n="64" d="100"/>
        </p:scale>
        <p:origin x="858" y="7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3/15/2026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3/15/2026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3/15/2026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3/15/2026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9C626-E7A9-786A-19F7-16933463BBC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2525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2209800"/>
            <a:ext cx="9144000" cy="2667000"/>
          </a:xfrm>
        </p:spPr>
        <p:txBody>
          <a:bodyPr/>
          <a:lstStyle/>
          <a:p>
            <a:pPr algn="ctr"/>
            <a:r>
              <a:rPr lang="en-US" sz="4800" dirty="0">
                <a:latin typeface="Calisto MT" panose="02040603050505030304" pitchFamily="18" charset="0"/>
              </a:rPr>
              <a:t>SPMVV-Exam-Results Portal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4876800"/>
            <a:ext cx="9143999" cy="1066800"/>
          </a:xfrm>
        </p:spPr>
        <p:txBody>
          <a:bodyPr/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P Navya Sree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1D49BA-F1B7-17A7-98C6-910C482123D5}"/>
              </a:ext>
            </a:extLst>
          </p:cNvPr>
          <p:cNvSpPr txBox="1"/>
          <p:nvPr/>
        </p:nvSpPr>
        <p:spPr>
          <a:xfrm>
            <a:off x="379412" y="430127"/>
            <a:ext cx="115062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శ్రీ</a:t>
            </a:r>
            <a:r>
              <a:rPr lang="en-US" dirty="0"/>
              <a:t> </a:t>
            </a:r>
            <a:r>
              <a:rPr lang="en-US" dirty="0" err="1"/>
              <a:t>పద్మావతి</a:t>
            </a:r>
            <a:r>
              <a:rPr lang="en-US" dirty="0"/>
              <a:t> </a:t>
            </a:r>
            <a:r>
              <a:rPr lang="en-US" dirty="0" err="1"/>
              <a:t>మహిళా</a:t>
            </a:r>
            <a:r>
              <a:rPr lang="en-US" dirty="0"/>
              <a:t> </a:t>
            </a:r>
            <a:r>
              <a:rPr lang="en-US" dirty="0" err="1"/>
              <a:t>విశ్వవిద్యాలయం</a:t>
            </a:r>
            <a:endParaRPr lang="en-US" dirty="0"/>
          </a:p>
          <a:p>
            <a:pPr algn="ctr"/>
            <a:r>
              <a:rPr lang="en-US" sz="2800" dirty="0">
                <a:latin typeface="Rockwell" panose="02060603020205020403" pitchFamily="18" charset="0"/>
              </a:rPr>
              <a:t>SRI PADMAVATI MAHILA VISVAVIDYALAYAM - SOET</a:t>
            </a:r>
          </a:p>
          <a:p>
            <a:pPr algn="ctr"/>
            <a:r>
              <a:rPr lang="en-US" dirty="0"/>
              <a:t>(Women's University)</a:t>
            </a:r>
          </a:p>
          <a:p>
            <a:pPr algn="ctr"/>
            <a:r>
              <a:rPr lang="en-US" dirty="0"/>
              <a:t>Tirupati, Andhra Pradesh-517502, India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52AC71-0111-B264-4A67-15E6062FC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" y="314944"/>
            <a:ext cx="1491344" cy="143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58FBE-764B-E540-F261-043DACA62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>
                <a:solidFill>
                  <a:schemeClr val="accent1"/>
                </a:solidFill>
              </a:rPr>
              <a:t>The Challenge </a:t>
            </a:r>
            <a:r>
              <a:rPr lang="en-US" dirty="0"/>
              <a:t>– The current exam management workflow relies heavily on manual processes. These labor-intensive tasks result in significant operational delays, impacting not only the exam section but also causing administrative bottlenecks across multiple departments.</a:t>
            </a:r>
          </a:p>
          <a:p>
            <a:pPr algn="just"/>
            <a:r>
              <a:rPr lang="en-US" dirty="0">
                <a:solidFill>
                  <a:schemeClr val="accent1"/>
                </a:solidFill>
              </a:rPr>
              <a:t>The Idea </a:t>
            </a:r>
            <a:r>
              <a:rPr lang="en-US" dirty="0"/>
              <a:t>– To implement a digital transformation initiative aimed at automating exam-related workflows. The goal is to replace manual interventions with a centralized, automated system to improve accuracy, reduce turnaround time, and streamline inter-departmental coordination.</a:t>
            </a:r>
          </a:p>
          <a:p>
            <a:pPr algn="just"/>
            <a:r>
              <a:rPr lang="en-US" dirty="0">
                <a:solidFill>
                  <a:schemeClr val="accent1"/>
                </a:solidFill>
              </a:rPr>
              <a:t>The Solution </a:t>
            </a:r>
            <a:r>
              <a:rPr lang="en-US" dirty="0"/>
              <a:t>– The proposed solution is a centralized automation exam management platform to replace manual workflows with a unified, digital system. Key features include automated results publication, circular management, student verification, eligibility tracking, and dynamic hall ticket generation—all designed to maximize administrative efficiency and data accuracy.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90FEF-1B3A-32A4-E23D-576DE276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4229C9E-D1B0-4A56-4AB0-D41565651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rmAutofit/>
          </a:bodyPr>
          <a:lstStyle/>
          <a:p>
            <a:r>
              <a:rPr lang="en-US" dirty="0"/>
              <a:t>Features of the Application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82D71CEC-F71F-0873-3A44-A327E26511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4" y="1905000"/>
            <a:ext cx="5638798" cy="4267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	</a:t>
            </a:r>
            <a:r>
              <a:rPr lang="en-US" dirty="0"/>
              <a:t>Designed to modernize the SPMVV SOET exam portal, this solution resolves current operational bottlenecks through the following core functionalities:</a:t>
            </a:r>
          </a:p>
          <a:p>
            <a:pPr lvl="1" algn="just"/>
            <a:r>
              <a:rPr lang="en-US" sz="2200" dirty="0"/>
              <a:t>Publishing exam results</a:t>
            </a:r>
          </a:p>
          <a:p>
            <a:pPr lvl="1"/>
            <a:r>
              <a:rPr lang="en-US" sz="2200" dirty="0"/>
              <a:t>Announcements through Circulars</a:t>
            </a:r>
          </a:p>
          <a:p>
            <a:pPr lvl="1"/>
            <a:r>
              <a:rPr lang="en-US" sz="2200" dirty="0"/>
              <a:t>User Management System </a:t>
            </a:r>
          </a:p>
          <a:p>
            <a:pPr lvl="1"/>
            <a:r>
              <a:rPr lang="en-US" sz="2200" dirty="0"/>
              <a:t>Manage Circulars</a:t>
            </a:r>
          </a:p>
          <a:p>
            <a:pPr lvl="1"/>
            <a:r>
              <a:rPr lang="en-US" sz="2200" dirty="0"/>
              <a:t>Search Student</a:t>
            </a:r>
          </a:p>
          <a:p>
            <a:pPr lvl="1"/>
            <a:r>
              <a:rPr lang="en-US" sz="2200" dirty="0"/>
              <a:t>Detained Students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C64D5F-88A8-AE9C-20DE-0720D91CD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971" y="1752601"/>
            <a:ext cx="1981200" cy="12617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1BBC16-FEB6-81CA-D967-0D879C55E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971" y="1769275"/>
            <a:ext cx="1981200" cy="1294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E450D7-E335-54FC-EE11-49853A76D7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626" y="3471572"/>
            <a:ext cx="1981200" cy="12799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CA31869-E69A-F95F-F853-C08F5F7F3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3971" y="3580557"/>
            <a:ext cx="2030057" cy="10207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D254C85-7698-4024-7A93-E1657BCC86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327" y="5144590"/>
            <a:ext cx="1981201" cy="9878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B40A84C-E7E8-0F90-2DDA-D95B01B76B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9640" y="5118069"/>
            <a:ext cx="2058572" cy="104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99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00B2-8FE8-D51C-4765-3D9B0BED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13A7-6DE9-E05E-E618-908A989E3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CAEAD-D088-6CB6-3AA8-F09F69D78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11" y="1600200"/>
            <a:ext cx="6096001" cy="513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888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7317-417F-F5AF-3970-7828D786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Login/Registration Page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451C5D1-A1F9-721B-892B-959537F55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3" y="1524000"/>
            <a:ext cx="10058397" cy="42672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Student &amp; Admin login (separate tabs) </a:t>
            </a:r>
          </a:p>
          <a:p>
            <a:pPr marL="0" indent="0" algn="just">
              <a:buNone/>
            </a:pPr>
            <a:r>
              <a:rPr lang="en-US" dirty="0"/>
              <a:t>JWT-based authentication (access + refresh tokens)</a:t>
            </a:r>
          </a:p>
          <a:p>
            <a:pPr marL="0" indent="0" algn="just">
              <a:buNone/>
            </a:pPr>
            <a:r>
              <a:rPr lang="en-US" dirty="0"/>
              <a:t>Account lockout after </a:t>
            </a:r>
            <a:r>
              <a:rPr lang="en-US" dirty="0">
                <a:solidFill>
                  <a:schemeClr val="accent1"/>
                </a:solidFill>
              </a:rPr>
              <a:t>5 failed </a:t>
            </a:r>
            <a:r>
              <a:rPr lang="en-US" dirty="0"/>
              <a:t>attempts (30 min lock)</a:t>
            </a:r>
          </a:p>
          <a:p>
            <a:pPr marL="0" indent="0" algn="just">
              <a:buNone/>
            </a:pPr>
            <a:r>
              <a:rPr lang="en-US" dirty="0"/>
              <a:t>Auto-logout after </a:t>
            </a:r>
            <a:r>
              <a:rPr lang="en-US" dirty="0">
                <a:solidFill>
                  <a:schemeClr val="accent1"/>
                </a:solidFill>
              </a:rPr>
              <a:t>60 minutes </a:t>
            </a:r>
            <a:r>
              <a:rPr lang="en-US" dirty="0"/>
              <a:t>of inactivity</a:t>
            </a:r>
          </a:p>
          <a:p>
            <a:pPr marL="0" indent="0" algn="just">
              <a:buNone/>
            </a:pPr>
            <a:r>
              <a:rPr lang="en-US" dirty="0"/>
              <a:t>Session cleared on browser tab close (</a:t>
            </a:r>
            <a:r>
              <a:rPr lang="en-US" dirty="0" err="1"/>
              <a:t>sessionStorage</a:t>
            </a:r>
            <a:r>
              <a:rPr lang="en-US" dirty="0"/>
              <a:t>) </a:t>
            </a:r>
          </a:p>
          <a:p>
            <a:pPr marL="0" indent="0" algn="just">
              <a:buNone/>
            </a:pPr>
            <a:r>
              <a:rPr lang="en-US" dirty="0"/>
              <a:t>Password change for logged-in users</a:t>
            </a:r>
          </a:p>
        </p:txBody>
      </p:sp>
    </p:spTree>
    <p:extLst>
      <p:ext uri="{BB962C8B-B14F-4D97-AF65-F5344CB8AC3E}">
        <p14:creationId xmlns:p14="http://schemas.microsoft.com/office/powerpoint/2010/main" val="29022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ABF34-6066-57A9-DAC5-1A98CB377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5950B62-FCAE-0D6B-D2A9-7AFCB4CE6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Results Statistics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A9CF79-FC25-49A1-8AA1-4E08CEE91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Bulk upload via Excel / CSV file</a:t>
            </a:r>
          </a:p>
          <a:p>
            <a:r>
              <a:rPr lang="en-US" dirty="0">
                <a:solidFill>
                  <a:schemeClr val="accent1"/>
                </a:solidFill>
              </a:rPr>
              <a:t>Automatic SGPA </a:t>
            </a:r>
            <a:r>
              <a:rPr lang="en-US" dirty="0"/>
              <a:t>calculation on upload</a:t>
            </a:r>
          </a:p>
          <a:p>
            <a:r>
              <a:rPr lang="en-US" dirty="0"/>
              <a:t>Row-level validation with error reporting before save</a:t>
            </a:r>
          </a:p>
          <a:p>
            <a:r>
              <a:rPr lang="en-US" dirty="0"/>
              <a:t>Multi-attempt merging — latest upload overwrites per subject code</a:t>
            </a:r>
          </a:p>
          <a:p>
            <a:r>
              <a:rPr lang="en-US" dirty="0"/>
              <a:t>Supports multiple years and semesters in single upload</a:t>
            </a:r>
          </a:p>
          <a:p>
            <a:r>
              <a:rPr lang="en-US" dirty="0"/>
              <a:t>Sample Excel template download for correct format</a:t>
            </a:r>
          </a:p>
          <a:p>
            <a:r>
              <a:rPr lang="en-US" dirty="0"/>
              <a:t>Per-exam result download (export back as Excel)</a:t>
            </a:r>
          </a:p>
          <a:p>
            <a:r>
              <a:rPr lang="en-US" dirty="0"/>
              <a:t>Per-exam delete to remove entire batch from DB- </a:t>
            </a:r>
            <a:r>
              <a:rPr lang="en-US" dirty="0">
                <a:solidFill>
                  <a:schemeClr val="accent1"/>
                </a:solidFill>
              </a:rPr>
              <a:t>Admin-only access</a:t>
            </a:r>
          </a:p>
        </p:txBody>
      </p:sp>
    </p:spTree>
    <p:extLst>
      <p:ext uri="{BB962C8B-B14F-4D97-AF65-F5344CB8AC3E}">
        <p14:creationId xmlns:p14="http://schemas.microsoft.com/office/powerpoint/2010/main" val="26160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35EB4-201B-757C-5F87-78C5ACE29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FFD80F3-5EA3-20AE-9F48-2A9AA0530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Management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621549-FF7A-B4A5-C8F2-A9B96C3E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10363198" cy="4267200"/>
          </a:xfrm>
        </p:spPr>
        <p:txBody>
          <a:bodyPr>
            <a:normAutofit/>
          </a:bodyPr>
          <a:lstStyle/>
          <a:p>
            <a:r>
              <a:rPr lang="en-US" dirty="0"/>
              <a:t>List all users with role, branch, department, permissions and last login</a:t>
            </a:r>
          </a:p>
          <a:p>
            <a:r>
              <a:rPr lang="en-US" dirty="0">
                <a:solidFill>
                  <a:schemeClr val="accent1"/>
                </a:solidFill>
              </a:rPr>
              <a:t>Create new user </a:t>
            </a:r>
            <a:r>
              <a:rPr lang="en-US" dirty="0"/>
              <a:t>with role assignment (admin / student)</a:t>
            </a:r>
          </a:p>
          <a:p>
            <a:r>
              <a:rPr lang="en-US" dirty="0"/>
              <a:t>Edit user details — name, email, branch, department</a:t>
            </a:r>
          </a:p>
          <a:p>
            <a:r>
              <a:rPr lang="en-US" dirty="0">
                <a:solidFill>
                  <a:schemeClr val="accent1"/>
                </a:solidFill>
              </a:rPr>
              <a:t>Granular permission </a:t>
            </a:r>
            <a:r>
              <a:rPr lang="en-US" dirty="0"/>
              <a:t>flags per user: </a:t>
            </a:r>
            <a:r>
              <a:rPr lang="en-US" dirty="0" err="1"/>
              <a:t>can_upload_results</a:t>
            </a:r>
            <a:r>
              <a:rPr lang="en-US" dirty="0"/>
              <a:t>, </a:t>
            </a:r>
            <a:r>
              <a:rPr lang="en-US" dirty="0" err="1"/>
              <a:t>can_delete_results</a:t>
            </a:r>
            <a:r>
              <a:rPr lang="en-US" dirty="0"/>
              <a:t>, </a:t>
            </a:r>
            <a:r>
              <a:rPr lang="en-US" dirty="0" err="1"/>
              <a:t>can_view_statistics</a:t>
            </a:r>
            <a:r>
              <a:rPr lang="en-US" dirty="0"/>
              <a:t>, </a:t>
            </a:r>
            <a:r>
              <a:rPr lang="en-US" dirty="0" err="1"/>
              <a:t>can_manage_users</a:t>
            </a:r>
            <a:r>
              <a:rPr lang="en-US" dirty="0"/>
              <a:t>, </a:t>
            </a:r>
            <a:r>
              <a:rPr lang="en-US" dirty="0" err="1"/>
              <a:t>can_view_all_branches</a:t>
            </a:r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Reset</a:t>
            </a:r>
            <a:r>
              <a:rPr lang="en-US" dirty="0"/>
              <a:t> any user's </a:t>
            </a:r>
            <a:r>
              <a:rPr lang="en-US" dirty="0">
                <a:solidFill>
                  <a:schemeClr val="accent1"/>
                </a:solidFill>
              </a:rPr>
              <a:t>password</a:t>
            </a:r>
            <a:r>
              <a:rPr lang="en-US" dirty="0"/>
              <a:t> (also clears failed login counter and lockout)</a:t>
            </a:r>
          </a:p>
          <a:p>
            <a:r>
              <a:rPr lang="en-US" dirty="0">
                <a:solidFill>
                  <a:schemeClr val="accent1"/>
                </a:solidFill>
              </a:rPr>
              <a:t>Delete user </a:t>
            </a:r>
            <a:r>
              <a:rPr lang="en-US" dirty="0"/>
              <a:t>(cannot delete yourself or default admin account)</a:t>
            </a:r>
          </a:p>
          <a:p>
            <a:r>
              <a:rPr lang="en-US" dirty="0"/>
              <a:t>Permission-based access — only users with </a:t>
            </a:r>
            <a:r>
              <a:rPr lang="en-US" dirty="0" err="1"/>
              <a:t>can_manage_users</a:t>
            </a:r>
            <a:r>
              <a:rPr lang="en-US" dirty="0"/>
              <a:t> flag can access</a:t>
            </a:r>
          </a:p>
        </p:txBody>
      </p:sp>
    </p:spTree>
    <p:extLst>
      <p:ext uri="{BB962C8B-B14F-4D97-AF65-F5344CB8AC3E}">
        <p14:creationId xmlns:p14="http://schemas.microsoft.com/office/powerpoint/2010/main" val="37162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2436-75DF-0AD1-E0FA-B8487FE6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8506FAE-0647-9366-827E-41908C325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 Ticket Management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70E1E6-203F-B901-F000-87D210F47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10363198" cy="42672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Create and manage exam </a:t>
            </a:r>
            <a:r>
              <a:rPr lang="en-US" dirty="0"/>
              <a:t>entries with course, branch, year, semester filters</a:t>
            </a:r>
          </a:p>
          <a:p>
            <a:r>
              <a:rPr lang="en-US" dirty="0"/>
              <a:t>Add / edit / delete subjects per exam with exam date and time</a:t>
            </a:r>
          </a:p>
          <a:p>
            <a:r>
              <a:rPr lang="en-US" dirty="0"/>
              <a:t>Bulk student enrollment via Excel upload (Roll Number + Student Name)</a:t>
            </a:r>
          </a:p>
          <a:p>
            <a:r>
              <a:rPr lang="en-US" dirty="0"/>
              <a:t>Student photo upload from Student portal</a:t>
            </a:r>
          </a:p>
          <a:p>
            <a:r>
              <a:rPr lang="en-US" dirty="0">
                <a:solidFill>
                  <a:schemeClr val="accent1"/>
                </a:solidFill>
              </a:rPr>
              <a:t>Generate hall tickets </a:t>
            </a:r>
          </a:p>
          <a:p>
            <a:r>
              <a:rPr lang="en-US" dirty="0"/>
              <a:t>Download individual hall ticket as PDF</a:t>
            </a:r>
          </a:p>
          <a:p>
            <a:r>
              <a:rPr lang="en-US" dirty="0">
                <a:solidFill>
                  <a:schemeClr val="accent1"/>
                </a:solidFill>
              </a:rPr>
              <a:t>Download</a:t>
            </a:r>
            <a:r>
              <a:rPr lang="en-US" dirty="0"/>
              <a:t> all </a:t>
            </a:r>
            <a:r>
              <a:rPr lang="en-US" dirty="0">
                <a:solidFill>
                  <a:schemeClr val="accent1"/>
                </a:solidFill>
              </a:rPr>
              <a:t>hall tickets </a:t>
            </a:r>
            <a:r>
              <a:rPr lang="en-US" dirty="0"/>
              <a:t>for an exam as a single </a:t>
            </a:r>
            <a:r>
              <a:rPr lang="en-US" dirty="0">
                <a:solidFill>
                  <a:schemeClr val="accent1"/>
                </a:solidFill>
              </a:rPr>
              <a:t>combined PDF</a:t>
            </a:r>
          </a:p>
        </p:txBody>
      </p:sp>
    </p:spTree>
    <p:extLst>
      <p:ext uri="{BB962C8B-B14F-4D97-AF65-F5344CB8AC3E}">
        <p14:creationId xmlns:p14="http://schemas.microsoft.com/office/powerpoint/2010/main" val="144540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8B1E6-DADB-188D-AFF2-60BFE788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CBFC479-0320-56D5-FA1A-93DDF776F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Student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C69491-9838-4E76-CA04-5C53AEE9A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10134598" cy="4267200"/>
          </a:xfrm>
        </p:spPr>
        <p:txBody>
          <a:bodyPr>
            <a:normAutofit/>
          </a:bodyPr>
          <a:lstStyle/>
          <a:p>
            <a:r>
              <a:rPr lang="en-US" dirty="0"/>
              <a:t>Search by roll number (partial match supported)</a:t>
            </a:r>
          </a:p>
          <a:p>
            <a:r>
              <a:rPr lang="en-US" dirty="0"/>
              <a:t>View full semester-wise result history — each exam upload shown separately</a:t>
            </a:r>
          </a:p>
          <a:p>
            <a:r>
              <a:rPr lang="en-US" dirty="0"/>
              <a:t>Shows SGPA, total marks, credits earned, pending subjects per semester</a:t>
            </a:r>
          </a:p>
          <a:p>
            <a:r>
              <a:rPr lang="en-US" dirty="0"/>
              <a:t>Edit individual subject marks — internal, external, total, grade</a:t>
            </a:r>
          </a:p>
          <a:p>
            <a:r>
              <a:rPr lang="en-US" dirty="0"/>
              <a:t>Grade validation — only O, A, B, C, D, F, AB (Absent) accepted</a:t>
            </a:r>
          </a:p>
          <a:p>
            <a:r>
              <a:rPr lang="en-US" dirty="0"/>
              <a:t>Auto-updates overall result when a failed subject is corrected</a:t>
            </a:r>
          </a:p>
        </p:txBody>
      </p:sp>
    </p:spTree>
    <p:extLst>
      <p:ext uri="{BB962C8B-B14F-4D97-AF65-F5344CB8AC3E}">
        <p14:creationId xmlns:p14="http://schemas.microsoft.com/office/powerpoint/2010/main" val="401417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B2045-5ACC-EFFA-62B6-F5048270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35F5F90-64AD-B4E1-F144-3DF56CB9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Detained Students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D0DC921-F53D-77C3-21A0-F46FA7B3B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414" y="1905000"/>
            <a:ext cx="10134598" cy="4267200"/>
          </a:xfrm>
        </p:spPr>
        <p:txBody>
          <a:bodyPr>
            <a:normAutofit/>
          </a:bodyPr>
          <a:lstStyle/>
          <a:p>
            <a:r>
              <a:rPr lang="en-US" dirty="0"/>
              <a:t>Filter by year, semester, branch, course</a:t>
            </a:r>
          </a:p>
          <a:p>
            <a:r>
              <a:rPr lang="en-US" dirty="0"/>
              <a:t>Cumulative credit calculation across all qualifying semesters</a:t>
            </a:r>
          </a:p>
          <a:p>
            <a:r>
              <a:rPr lang="en-US" dirty="0"/>
              <a:t>Subject-level merging — latest uploaded result wins per subject code</a:t>
            </a:r>
          </a:p>
          <a:p>
            <a:r>
              <a:rPr lang="en-US" dirty="0"/>
              <a:t>Configurable credit threshold with operators: </a:t>
            </a:r>
            <a:r>
              <a:rPr lang="en-US" dirty="0" err="1"/>
              <a:t>gt</a:t>
            </a:r>
            <a:r>
              <a:rPr lang="en-US" dirty="0"/>
              <a:t>, </a:t>
            </a:r>
            <a:r>
              <a:rPr lang="en-US" dirty="0" err="1"/>
              <a:t>gte</a:t>
            </a:r>
            <a:r>
              <a:rPr lang="en-US" dirty="0"/>
              <a:t>, </a:t>
            </a:r>
            <a:r>
              <a:rPr lang="en-US" dirty="0" err="1"/>
              <a:t>lt</a:t>
            </a:r>
            <a:r>
              <a:rPr lang="en-US" dirty="0"/>
              <a:t>, </a:t>
            </a:r>
            <a:r>
              <a:rPr lang="en-US" dirty="0" err="1"/>
              <a:t>lte</a:t>
            </a:r>
            <a:r>
              <a:rPr lang="en-US" dirty="0"/>
              <a:t>, eq</a:t>
            </a:r>
          </a:p>
          <a:p>
            <a:r>
              <a:rPr lang="en-US" dirty="0"/>
              <a:t>Shows credit earned vs total per student with failed subject breakdown</a:t>
            </a:r>
          </a:p>
          <a:p>
            <a:r>
              <a:rPr lang="en-US" dirty="0"/>
              <a:t>Admin-only access (403 for students)- Export results as CSV</a:t>
            </a:r>
          </a:p>
        </p:txBody>
      </p:sp>
    </p:spTree>
    <p:extLst>
      <p:ext uri="{BB962C8B-B14F-4D97-AF65-F5344CB8AC3E}">
        <p14:creationId xmlns:p14="http://schemas.microsoft.com/office/powerpoint/2010/main" val="346303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8A319-8304-05E6-6192-D45BA2ED9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9A547CD-5DE3-D97A-1D5F-0AA333A28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Results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D39D81-0476-7CD9-4C06-D0E33251B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197" y="1676400"/>
            <a:ext cx="4729615" cy="23626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81819-673F-E2BB-BE75-7609BFBBA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12" y="1705429"/>
            <a:ext cx="5050024" cy="23626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30F030-C4B6-8749-7A8C-3012F3C4B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12" y="4343400"/>
            <a:ext cx="5050024" cy="20012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073F92-162D-1506-FCC0-854F16F915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7197" y="4343400"/>
            <a:ext cx="47985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5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53FE8-89A1-1B92-C4CA-A2C6E0EF9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B04B9B7-9D68-0BE0-4EDE-EDE287C78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46C21-5F0F-978E-347B-8A50F9244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2" y="1676400"/>
            <a:ext cx="9399589" cy="495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3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58340-4F97-74D5-76A4-0730B9C42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A860A05-D22D-10F3-C7ED-6EECCDB0E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Management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364E9-6D9F-F9A4-E512-41D24BA67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812" y="1676400"/>
            <a:ext cx="6629400" cy="2446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C06018-8635-C1EE-12D1-1A1E3DE68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170" y="4191000"/>
            <a:ext cx="7285714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6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8C29-5265-2302-E5D9-121004674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3127A74-E39F-CC12-B084-FCDE41C6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Management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079A27-CA1D-EF68-7D22-F4BC03F1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11" y="1676400"/>
            <a:ext cx="7543800" cy="19697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E42728-1425-19B8-4BC1-843B2E2AA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337" y="3840905"/>
            <a:ext cx="5516149" cy="274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981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A617-FDF3-1385-E3DE-510DF4670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A052CAE-B306-B6AC-DCBF-EC96938B1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Student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7ECB65-B228-AC36-2C28-0A3C01710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2" y="1600200"/>
            <a:ext cx="4080850" cy="2819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F4B7D4-D5CB-9307-469D-5205E00F6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012" y="1600200"/>
            <a:ext cx="6140274" cy="281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732EF0-5DA3-28FC-D615-D02B5E930D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012" y="4527035"/>
            <a:ext cx="10331274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2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2270E-2325-FBE4-3E13-BCCF42A5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C66AD83-88B5-B370-6B94-7E40E73F9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Detained Student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05438-D208-9B0A-13AE-96F68144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012" y="1590550"/>
            <a:ext cx="8372700" cy="499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3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Stack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383D05-5CAE-4BB9-7EA2-0EC63C8E83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517332"/>
              </p:ext>
            </p:extLst>
          </p:nvPr>
        </p:nvGraphicFramePr>
        <p:xfrm>
          <a:off x="2031470" y="1752600"/>
          <a:ext cx="8125884" cy="2225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843742">
                  <a:extLst>
                    <a:ext uri="{9D8B030D-6E8A-4147-A177-3AD203B41FA5}">
                      <a16:colId xmlns:a16="http://schemas.microsoft.com/office/drawing/2014/main" val="1937457403"/>
                    </a:ext>
                  </a:extLst>
                </a:gridCol>
                <a:gridCol w="3250671">
                  <a:extLst>
                    <a:ext uri="{9D8B030D-6E8A-4147-A177-3AD203B41FA5}">
                      <a16:colId xmlns:a16="http://schemas.microsoft.com/office/drawing/2014/main" val="2845730498"/>
                    </a:ext>
                  </a:extLst>
                </a:gridCol>
                <a:gridCol w="2031471">
                  <a:extLst>
                    <a:ext uri="{9D8B030D-6E8A-4147-A177-3AD203B41FA5}">
                      <a16:colId xmlns:a16="http://schemas.microsoft.com/office/drawing/2014/main" val="22542900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854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19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Web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Django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07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Django REST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25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UI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555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Build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5.0.8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35817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8A8E906-3E39-6EFE-4BC5-CA3B352D2627}"/>
              </a:ext>
            </a:extLst>
          </p:cNvPr>
          <p:cNvSpPr txBox="1"/>
          <p:nvPr/>
        </p:nvSpPr>
        <p:spPr>
          <a:xfrm>
            <a:off x="1293812" y="4419600"/>
            <a:ext cx="104394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000" dirty="0"/>
              <a:t>Frontend — React SPA served by Nginx on port 2026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Backend — Django REST API served by </a:t>
            </a:r>
            <a:r>
              <a:rPr lang="en-US" sz="2000" dirty="0" err="1"/>
              <a:t>Gunicorn</a:t>
            </a:r>
            <a:r>
              <a:rPr lang="en-US" sz="2000" dirty="0"/>
              <a:t> on port 8000 (internal)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Database — MariaDB on port 3306 (internal, not exposed to internet)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Deployment — All three layers run as isolated Docker containers on a single Linux VM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Communication — Frontend calls Backend via REST/JSON; Backend talks to DB via ORM</a:t>
            </a:r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Highlights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Three-tier Docker architecture — Frontend, Backend, Database in isolated containers.</a:t>
            </a:r>
          </a:p>
          <a:p>
            <a:pPr algn="just"/>
            <a:r>
              <a:rPr lang="en-US" dirty="0"/>
              <a:t>REST API design — stateless, JSON-based, standard HTTP status codes.</a:t>
            </a:r>
          </a:p>
          <a:p>
            <a:pPr algn="just"/>
            <a:r>
              <a:rPr lang="en-US" dirty="0"/>
              <a:t>Role-based access control with 5 granular admin permission flags- Automatic SGPA/CGPA calculation using grade-point mapping (O=10, A=9 … F=0).</a:t>
            </a:r>
          </a:p>
          <a:p>
            <a:pPr algn="just"/>
            <a:r>
              <a:rPr lang="en-US" dirty="0"/>
              <a:t>Multi-attempt merging — supplementary results override regular results per subject- Audit trail on every action with IP address, user identity, and timestamp.</a:t>
            </a:r>
          </a:p>
        </p:txBody>
      </p:sp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3A7A-E694-7B1F-2B76-1257CA3D3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5D03-537F-625F-B003-250B70B42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6141CE-9F27-54E3-F921-A3BB27195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Grade Card / Transcript PDF Download</a:t>
            </a:r>
          </a:p>
          <a:p>
            <a:pPr algn="just"/>
            <a:r>
              <a:rPr lang="en-US" dirty="0"/>
              <a:t>Online Re-evaluation Request</a:t>
            </a:r>
          </a:p>
          <a:p>
            <a:pPr algn="just"/>
            <a:r>
              <a:rPr lang="en-US" dirty="0"/>
              <a:t>Email Notifications for Result Updates</a:t>
            </a:r>
          </a:p>
          <a:p>
            <a:pPr algn="just"/>
            <a:r>
              <a:rPr lang="en-US" dirty="0"/>
              <a:t>Two-Factor Authentication (2FA)</a:t>
            </a:r>
          </a:p>
          <a:p>
            <a:pPr algn="just"/>
            <a:r>
              <a:rPr lang="en-US" dirty="0"/>
              <a:t>Result Comparison Charts (Semester-wise)</a:t>
            </a:r>
          </a:p>
          <a:p>
            <a:pPr algn="just"/>
            <a:r>
              <a:rPr lang="en-US" dirty="0"/>
              <a:t>Timetable Management</a:t>
            </a:r>
          </a:p>
          <a:p>
            <a:pPr algn="just"/>
            <a:r>
              <a:rPr lang="en-US" dirty="0"/>
              <a:t>Bulk Student Import via Excel</a:t>
            </a:r>
          </a:p>
          <a:p>
            <a:pPr algn="just"/>
            <a:r>
              <a:rPr lang="en-US" dirty="0"/>
              <a:t>Automated Database Backup Scheduling</a:t>
            </a:r>
          </a:p>
          <a:p>
            <a:pPr algn="just"/>
            <a:r>
              <a:rPr lang="en-US" dirty="0"/>
              <a:t>Mobile App (Android / iOS)</a:t>
            </a:r>
          </a:p>
        </p:txBody>
      </p:sp>
    </p:spTree>
    <p:extLst>
      <p:ext uri="{BB962C8B-B14F-4D97-AF65-F5344CB8AC3E}">
        <p14:creationId xmlns:p14="http://schemas.microsoft.com/office/powerpoint/2010/main" val="32752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157</TotalTime>
  <Words>884</Words>
  <Application>Microsoft Office PowerPoint</Application>
  <PresentationFormat>Custom</PresentationFormat>
  <Paragraphs>111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Calisto MT</vt:lpstr>
      <vt:lpstr>Consolas</vt:lpstr>
      <vt:lpstr>Corbel</vt:lpstr>
      <vt:lpstr>Rockwell</vt:lpstr>
      <vt:lpstr>Chalkboard 16x9</vt:lpstr>
      <vt:lpstr>SPMVV-Exam-Results Portal</vt:lpstr>
      <vt:lpstr>Introduction</vt:lpstr>
      <vt:lpstr>Features of the Application</vt:lpstr>
      <vt:lpstr>File Structure</vt:lpstr>
      <vt:lpstr>Login/Registration Page</vt:lpstr>
      <vt:lpstr>Exam Results Statistics</vt:lpstr>
      <vt:lpstr>User Management</vt:lpstr>
      <vt:lpstr>Hall Ticket Management</vt:lpstr>
      <vt:lpstr>Search Student</vt:lpstr>
      <vt:lpstr>Detained Students</vt:lpstr>
      <vt:lpstr>Exam Results Statistics</vt:lpstr>
      <vt:lpstr>User Management</vt:lpstr>
      <vt:lpstr>Circular Management</vt:lpstr>
      <vt:lpstr>Circular Management</vt:lpstr>
      <vt:lpstr>Search Student</vt:lpstr>
      <vt:lpstr>Detained Student</vt:lpstr>
      <vt:lpstr>Technical Stack</vt:lpstr>
      <vt:lpstr>Technical Highlights</vt:lpstr>
      <vt:lpstr>Future Scope</vt:lpstr>
    </vt:vector>
  </TitlesOfParts>
  <Company>Cisco Systems,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 Chendra -X (gochendr - HCL TECHNOLOGIES LIMITED at Cisco)</dc:creator>
  <cp:lastModifiedBy>Gowtham Chendra -X (gochendr - HCL TECHNOLOGIES LIMITED at Cisco)</cp:lastModifiedBy>
  <cp:revision>8</cp:revision>
  <dcterms:created xsi:type="dcterms:W3CDTF">2026-03-15T11:42:07Z</dcterms:created>
  <dcterms:modified xsi:type="dcterms:W3CDTF">2026-03-15T15:47:09Z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Chalkboard 16x9:8</vt:lpwstr>
  </property>
  <property fmtid="{D5CDD505-2E9C-101B-9397-08002B2CF9AE}" pid="3" name="ClassificationContentMarkingFooterText">
    <vt:lpwstr>Cisco Confidential</vt:lpwstr>
  </property>
</Properties>
</file>